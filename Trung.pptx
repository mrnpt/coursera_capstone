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61" r:id="rId5"/>
    <p:sldId id="266" r:id="rId6"/>
    <p:sldId id="268" r:id="rId7"/>
    <p:sldId id="269"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160" autoAdjust="0"/>
    <p:restoredTop sz="94660"/>
  </p:normalViewPr>
  <p:slideViewPr>
    <p:cSldViewPr snapToGrid="0">
      <p:cViewPr varScale="1">
        <p:scale>
          <a:sx n="101" d="100"/>
          <a:sy n="101" d="100"/>
        </p:scale>
        <p:origin x="200" y="7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3/23/21</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List_of_postal_codes_of_Canada:_M" TargetMode="External"/><Relationship Id="rId2" Type="http://schemas.openxmlformats.org/officeDocument/2006/relationships/hyperlink" Target="https://github.com/dcrouch1/Peer-graded-Assignment-Capstone-Project---The-Battle-of-Neighborhoods-Week-2-/blob/master/Daves_Capstone.ipynb" TargetMode="External"/><Relationship Id="rId1" Type="http://schemas.openxmlformats.org/officeDocument/2006/relationships/slideLayout" Target="../slideLayouts/slideLayout2.xml"/><Relationship Id="rId6" Type="http://schemas.openxmlformats.org/officeDocument/2006/relationships/hyperlink" Target="https://www12.statcan.gc.ca/census-recensement/2016/dp-pd/prof/search-recherche/change-geo.cfm?Lang=E&amp;Geo1=FSA" TargetMode="External"/><Relationship Id="rId5" Type="http://schemas.openxmlformats.org/officeDocument/2006/relationships/hyperlink" Target="https://www12.statcan.gc.ca/census-recensement/2016/dp-pd/hlt-fst/pd-pl/Tables/File.cfm?T=1201&amp;SR=1&amp;RPP=9999&amp;PR=0&amp;CMA=0&amp;CSD=0&amp;S=22&amp;O=A&amp;Lang=Eng&amp;OFT=CSV" TargetMode="External"/><Relationship Id="rId4" Type="http://schemas.openxmlformats.org/officeDocument/2006/relationships/hyperlink" Target="http://cocl.us/Geospatial_data"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towardsdatascience.com/clustering-algorithms-for-customer-segmentation-af637c6830ac"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F532D-1ED1-449E-8892-2349E1FE2DDF}"/>
              </a:ext>
            </a:extLst>
          </p:cNvPr>
          <p:cNvSpPr>
            <a:spLocks noGrp="1"/>
          </p:cNvSpPr>
          <p:nvPr>
            <p:ph type="ctrTitle"/>
          </p:nvPr>
        </p:nvSpPr>
        <p:spPr/>
        <p:txBody>
          <a:bodyPr>
            <a:normAutofit fontScale="90000"/>
          </a:bodyPr>
          <a:lstStyle/>
          <a:p>
            <a:r>
              <a:rPr lang="en-US" b="1" dirty="0"/>
              <a:t>Capstone: Find the best neighborhood in Toronto to open a Restaurant Supply Store</a:t>
            </a:r>
            <a:br>
              <a:rPr lang="en-US" b="1" dirty="0"/>
            </a:br>
            <a:endParaRPr lang="en-CA" dirty="0"/>
          </a:p>
        </p:txBody>
      </p:sp>
      <p:sp>
        <p:nvSpPr>
          <p:cNvPr id="3" name="Subtitle 2">
            <a:extLst>
              <a:ext uri="{FF2B5EF4-FFF2-40B4-BE49-F238E27FC236}">
                <a16:creationId xmlns:a16="http://schemas.microsoft.com/office/drawing/2014/main" id="{22C76D97-7589-49C4-AC78-62B531FB08C9}"/>
              </a:ext>
            </a:extLst>
          </p:cNvPr>
          <p:cNvSpPr>
            <a:spLocks noGrp="1"/>
          </p:cNvSpPr>
          <p:nvPr>
            <p:ph type="subTitle" idx="1"/>
          </p:nvPr>
        </p:nvSpPr>
        <p:spPr/>
        <p:txBody>
          <a:bodyPr/>
          <a:lstStyle/>
          <a:p>
            <a:r>
              <a:rPr lang="en-US" dirty="0"/>
              <a:t>Applied Data Science Capstone</a:t>
            </a:r>
          </a:p>
          <a:p>
            <a:r>
              <a:rPr lang="it-IT" dirty="0"/>
              <a:t>IBM Data Science Professional Certificate</a:t>
            </a:r>
          </a:p>
          <a:p>
            <a:endParaRPr lang="en-CA" dirty="0"/>
          </a:p>
        </p:txBody>
      </p:sp>
    </p:spTree>
    <p:extLst>
      <p:ext uri="{BB962C8B-B14F-4D97-AF65-F5344CB8AC3E}">
        <p14:creationId xmlns:p14="http://schemas.microsoft.com/office/powerpoint/2010/main" val="1542244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B8F0834-ED22-432A-9B32-B180ADB8FF63}"/>
              </a:ext>
            </a:extLst>
          </p:cNvPr>
          <p:cNvSpPr>
            <a:spLocks noGrp="1"/>
          </p:cNvSpPr>
          <p:nvPr>
            <p:ph type="title"/>
          </p:nvPr>
        </p:nvSpPr>
        <p:spPr>
          <a:xfrm>
            <a:off x="684213" y="685800"/>
            <a:ext cx="10058400" cy="506896"/>
          </a:xfrm>
        </p:spPr>
        <p:txBody>
          <a:bodyPr>
            <a:normAutofit fontScale="90000"/>
          </a:bodyPr>
          <a:lstStyle/>
          <a:p>
            <a:r>
              <a:rPr lang="en-CA" b="1" dirty="0"/>
              <a:t>Introduction:</a:t>
            </a:r>
            <a:br>
              <a:rPr lang="en-CA" b="1" dirty="0"/>
            </a:br>
            <a:endParaRPr lang="en-CA" dirty="0"/>
          </a:p>
        </p:txBody>
      </p:sp>
      <p:sp>
        <p:nvSpPr>
          <p:cNvPr id="9" name="TextBox 8">
            <a:extLst>
              <a:ext uri="{FF2B5EF4-FFF2-40B4-BE49-F238E27FC236}">
                <a16:creationId xmlns:a16="http://schemas.microsoft.com/office/drawing/2014/main" id="{94BDA45B-82FD-418A-ADFD-DA5C02E2C3B3}"/>
              </a:ext>
            </a:extLst>
          </p:cNvPr>
          <p:cNvSpPr txBox="1"/>
          <p:nvPr/>
        </p:nvSpPr>
        <p:spPr>
          <a:xfrm>
            <a:off x="763726" y="1192696"/>
            <a:ext cx="8587409" cy="646331"/>
          </a:xfrm>
          <a:prstGeom prst="rect">
            <a:avLst/>
          </a:prstGeom>
          <a:noFill/>
        </p:spPr>
        <p:txBody>
          <a:bodyPr wrap="square" rtlCol="0">
            <a:spAutoFit/>
          </a:bodyPr>
          <a:lstStyle/>
          <a:p>
            <a:r>
              <a:rPr lang="en-US" dirty="0"/>
              <a:t>The idea is use neighborhood characteristics to determine which neighborhood should I consult my clients to run a new restaurant.</a:t>
            </a:r>
            <a:endParaRPr lang="en-CA" sz="12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745798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C9C8E6-AA1C-4C98-9785-3E39D6665E99}"/>
              </a:ext>
            </a:extLst>
          </p:cNvPr>
          <p:cNvSpPr txBox="1"/>
          <p:nvPr/>
        </p:nvSpPr>
        <p:spPr>
          <a:xfrm>
            <a:off x="861391" y="274290"/>
            <a:ext cx="9965635" cy="6309420"/>
          </a:xfrm>
          <a:prstGeom prst="rect">
            <a:avLst/>
          </a:prstGeom>
          <a:noFill/>
        </p:spPr>
        <p:txBody>
          <a:bodyPr wrap="square" rtlCol="0">
            <a:spAutoFit/>
          </a:bodyPr>
          <a:lstStyle/>
          <a:p>
            <a:r>
              <a:rPr lang="en-CA" sz="2000" b="1" dirty="0">
                <a:latin typeface="+mj-lt"/>
                <a:cs typeface="Calibri Light" panose="020F0302020204030204" pitchFamily="34" charset="0"/>
              </a:rPr>
              <a:t>Data:</a:t>
            </a:r>
          </a:p>
          <a:p>
            <a:r>
              <a:rPr lang="en-CA" sz="1200" dirty="0">
                <a:latin typeface="Calibri Light" panose="020F0302020204030204" pitchFamily="34" charset="0"/>
                <a:cs typeface="Calibri Light" panose="020F0302020204030204" pitchFamily="34" charset="0"/>
              </a:rPr>
              <a:t>You can follow along in my Capstone Notebook located here:</a:t>
            </a:r>
            <a:br>
              <a:rPr lang="en-CA" sz="1200" dirty="0">
                <a:latin typeface="Calibri Light" panose="020F0302020204030204" pitchFamily="34" charset="0"/>
                <a:cs typeface="Calibri Light" panose="020F0302020204030204" pitchFamily="34" charset="0"/>
              </a:rPr>
            </a:br>
            <a:r>
              <a:rPr lang="en-CA" sz="1200" u="sng" dirty="0">
                <a:latin typeface="Calibri Light" panose="020F0302020204030204" pitchFamily="34" charset="0"/>
                <a:cs typeface="Calibri Light" panose="020F0302020204030204" pitchFamily="34" charset="0"/>
                <a:hlinkClick r:id="rId2"/>
              </a:rPr>
              <a:t>https://github.com/dcrouch1/Peer-graded-Assignment-Capstone-Project---The-Battle-of-Neighborhoods-Week-2-/blob/master/Daves_Capstone.ipynb</a:t>
            </a:r>
            <a:r>
              <a:rPr lang="en-CA" sz="1200" dirty="0">
                <a:latin typeface="Calibri Light" panose="020F0302020204030204" pitchFamily="34" charset="0"/>
                <a:cs typeface="Calibri Light" panose="020F0302020204030204" pitchFamily="34" charset="0"/>
              </a:rPr>
              <a:t> </a:t>
            </a:r>
          </a:p>
          <a:p>
            <a:r>
              <a:rPr lang="en-CA" sz="1200" b="1" dirty="0">
                <a:latin typeface="Calibri Light" panose="020F0302020204030204" pitchFamily="34" charset="0"/>
                <a:cs typeface="Calibri Light" panose="020F0302020204030204" pitchFamily="34" charset="0"/>
              </a:rPr>
              <a:t>Data Wrangling</a:t>
            </a:r>
          </a:p>
          <a:p>
            <a:r>
              <a:rPr lang="en-CA" sz="1200" dirty="0">
                <a:latin typeface="Calibri Light" panose="020F0302020204030204" pitchFamily="34" charset="0"/>
                <a:cs typeface="Calibri Light" panose="020F0302020204030204" pitchFamily="34" charset="0"/>
              </a:rPr>
              <a:t>A lot of hard work went into creating the working data set.</a:t>
            </a:r>
            <a:br>
              <a:rPr lang="en-CA" sz="1200" dirty="0">
                <a:latin typeface="Calibri Light" panose="020F0302020204030204" pitchFamily="34" charset="0"/>
                <a:cs typeface="Calibri Light" panose="020F0302020204030204" pitchFamily="34" charset="0"/>
              </a:rPr>
            </a:br>
            <a:r>
              <a:rPr lang="en-CA" sz="1200" dirty="0">
                <a:latin typeface="Calibri Light" panose="020F0302020204030204" pitchFamily="34" charset="0"/>
                <a:cs typeface="Calibri Light" panose="020F0302020204030204" pitchFamily="34" charset="0"/>
              </a:rPr>
              <a:t>I had to combine the following disparate data sources. The order of events went like this</a:t>
            </a:r>
          </a:p>
          <a:p>
            <a:endParaRPr lang="en-CA" sz="1200" dirty="0">
              <a:latin typeface="Calibri Light" panose="020F0302020204030204" pitchFamily="34" charset="0"/>
              <a:cs typeface="Calibri Light" panose="020F0302020204030204" pitchFamily="34" charset="0"/>
            </a:endParaRPr>
          </a:p>
          <a:p>
            <a:r>
              <a:rPr lang="en-CA" sz="1200" b="1" i="1" dirty="0">
                <a:latin typeface="Calibri Light" panose="020F0302020204030204" pitchFamily="34" charset="0"/>
                <a:cs typeface="Calibri Light" panose="020F0302020204030204" pitchFamily="34" charset="0"/>
              </a:rPr>
              <a:t>1. Load all the Data from all the various sources.</a:t>
            </a:r>
          </a:p>
          <a:p>
            <a:r>
              <a:rPr lang="en-CA" sz="1200" b="1" i="1" dirty="0">
                <a:latin typeface="Calibri Light" panose="020F0302020204030204" pitchFamily="34" charset="0"/>
                <a:cs typeface="Calibri Light" panose="020F0302020204030204" pitchFamily="34" charset="0"/>
              </a:rPr>
              <a:t>1.1 Toronto neighborhoods broken down by postal code</a:t>
            </a:r>
          </a:p>
          <a:p>
            <a:r>
              <a:rPr lang="en-CA" sz="1200" u="sng" dirty="0">
                <a:latin typeface="Calibri Light" panose="020F0302020204030204" pitchFamily="34" charset="0"/>
                <a:cs typeface="Calibri Light" panose="020F0302020204030204" pitchFamily="34" charset="0"/>
                <a:hlinkClick r:id="rId3"/>
              </a:rPr>
              <a:t>https://en.wikipedia.org/wiki/List_of_postal_codes_of_Canada:_M</a:t>
            </a:r>
            <a:br>
              <a:rPr lang="en-CA" sz="1200" dirty="0">
                <a:latin typeface="Calibri Light" panose="020F0302020204030204" pitchFamily="34" charset="0"/>
                <a:cs typeface="Calibri Light" panose="020F0302020204030204" pitchFamily="34" charset="0"/>
              </a:rPr>
            </a:br>
            <a:r>
              <a:rPr lang="en-CA" sz="1200" dirty="0">
                <a:latin typeface="Calibri Light" panose="020F0302020204030204" pitchFamily="34" charset="0"/>
                <a:cs typeface="Calibri Light" panose="020F0302020204030204" pitchFamily="34" charset="0"/>
              </a:rPr>
              <a:t>Here I used </a:t>
            </a:r>
            <a:r>
              <a:rPr lang="en-CA" sz="1200" dirty="0" err="1">
                <a:latin typeface="Calibri Light" panose="020F0302020204030204" pitchFamily="34" charset="0"/>
                <a:cs typeface="Calibri Light" panose="020F0302020204030204" pitchFamily="34" charset="0"/>
              </a:rPr>
              <a:t>BeautifulSoup</a:t>
            </a:r>
            <a:r>
              <a:rPr lang="en-CA" sz="1200" dirty="0">
                <a:latin typeface="Calibri Light" panose="020F0302020204030204" pitchFamily="34" charset="0"/>
                <a:cs typeface="Calibri Light" panose="020F0302020204030204" pitchFamily="34" charset="0"/>
              </a:rPr>
              <a:t> to scrape the wiki page to extract a working list of Toronto Neighborhoods sorted by postal code.</a:t>
            </a:r>
          </a:p>
          <a:p>
            <a:endParaRPr lang="en-CA" sz="1200" dirty="0">
              <a:latin typeface="Calibri Light" panose="020F0302020204030204" pitchFamily="34" charset="0"/>
              <a:cs typeface="Calibri Light" panose="020F0302020204030204" pitchFamily="34" charset="0"/>
            </a:endParaRPr>
          </a:p>
          <a:p>
            <a:r>
              <a:rPr lang="en-CA" sz="1200" b="1" i="1" dirty="0">
                <a:latin typeface="Calibri Light" panose="020F0302020204030204" pitchFamily="34" charset="0"/>
                <a:cs typeface="Calibri Light" panose="020F0302020204030204" pitchFamily="34" charset="0"/>
              </a:rPr>
              <a:t>1.1.1 Load Toronto geospatial coordinates and merge to Toronto Postal Code Data</a:t>
            </a:r>
          </a:p>
          <a:p>
            <a:r>
              <a:rPr lang="en-CA" sz="1200" u="sng" dirty="0">
                <a:latin typeface="Calibri Light" panose="020F0302020204030204" pitchFamily="34" charset="0"/>
                <a:cs typeface="Calibri Light" panose="020F0302020204030204" pitchFamily="34" charset="0"/>
                <a:hlinkClick r:id="rId4"/>
              </a:rPr>
              <a:t>http://cocl.us/Geospatial_data</a:t>
            </a:r>
            <a:br>
              <a:rPr lang="en-CA" sz="1200" dirty="0">
                <a:latin typeface="Calibri Light" panose="020F0302020204030204" pitchFamily="34" charset="0"/>
                <a:cs typeface="Calibri Light" panose="020F0302020204030204" pitchFamily="34" charset="0"/>
              </a:rPr>
            </a:br>
            <a:r>
              <a:rPr lang="en-CA" sz="1200" dirty="0">
                <a:latin typeface="Calibri Light" panose="020F0302020204030204" pitchFamily="34" charset="0"/>
                <a:cs typeface="Calibri Light" panose="020F0302020204030204" pitchFamily="34" charset="0"/>
              </a:rPr>
              <a:t>Next, I joined geo spatial to the Toronto Data.</a:t>
            </a:r>
          </a:p>
          <a:p>
            <a:endParaRPr lang="en-CA" sz="1200" dirty="0">
              <a:latin typeface="Calibri Light" panose="020F0302020204030204" pitchFamily="34" charset="0"/>
              <a:cs typeface="Calibri Light" panose="020F0302020204030204" pitchFamily="34" charset="0"/>
            </a:endParaRPr>
          </a:p>
          <a:p>
            <a:r>
              <a:rPr lang="en-CA" sz="1200" b="1" i="1" dirty="0">
                <a:latin typeface="Calibri Light" panose="020F0302020204030204" pitchFamily="34" charset="0"/>
                <a:cs typeface="Calibri Light" panose="020F0302020204030204" pitchFamily="34" charset="0"/>
              </a:rPr>
              <a:t>1.2 Toronto neighborhoods populations broken down by postal code</a:t>
            </a:r>
          </a:p>
          <a:p>
            <a:r>
              <a:rPr lang="en-CA" sz="1200" u="sng" dirty="0">
                <a:latin typeface="Calibri Light" panose="020F0302020204030204" pitchFamily="34" charset="0"/>
                <a:cs typeface="Calibri Light" panose="020F0302020204030204" pitchFamily="34" charset="0"/>
                <a:hlinkClick r:id="rId5"/>
              </a:rPr>
              <a:t>https://www12.statcan.gc.ca/census-recensement/2016/dp-pd/hlt-fst/pd-pl/Tables/File.cfm?T=1201&amp;SR=1&amp;RPP=9999&amp;PR=0&amp;CMA=0&amp;CSD=0&amp;S=22&amp;O=A&amp;Lang=Eng&amp;OFT=CSV</a:t>
            </a:r>
            <a:br>
              <a:rPr lang="en-CA" sz="1200" dirty="0">
                <a:latin typeface="Calibri Light" panose="020F0302020204030204" pitchFamily="34" charset="0"/>
                <a:cs typeface="Calibri Light" panose="020F0302020204030204" pitchFamily="34" charset="0"/>
              </a:rPr>
            </a:br>
            <a:r>
              <a:rPr lang="en-CA" sz="1200" dirty="0">
                <a:latin typeface="Calibri Light" panose="020F0302020204030204" pitchFamily="34" charset="0"/>
                <a:cs typeface="Calibri Light" panose="020F0302020204030204" pitchFamily="34" charset="0"/>
              </a:rPr>
              <a:t>Use Pandas to grab the csv</a:t>
            </a:r>
          </a:p>
          <a:p>
            <a:endParaRPr lang="en-CA" sz="1200" dirty="0">
              <a:latin typeface="Calibri Light" panose="020F0302020204030204" pitchFamily="34" charset="0"/>
              <a:cs typeface="Calibri Light" panose="020F0302020204030204" pitchFamily="34" charset="0"/>
            </a:endParaRPr>
          </a:p>
          <a:p>
            <a:r>
              <a:rPr lang="en-CA" sz="1200" b="1" i="1" dirty="0">
                <a:latin typeface="Calibri Light" panose="020F0302020204030204" pitchFamily="34" charset="0"/>
                <a:cs typeface="Calibri Light" panose="020F0302020204030204" pitchFamily="34" charset="0"/>
              </a:rPr>
              <a:t>1.2.1 Merge Toronto Neighbourhood populations data with Toronto Postal Code data</a:t>
            </a:r>
          </a:p>
          <a:p>
            <a:r>
              <a:rPr lang="en-CA" sz="1200" dirty="0">
                <a:latin typeface="Calibri Light" panose="020F0302020204030204" pitchFamily="34" charset="0"/>
                <a:cs typeface="Calibri Light" panose="020F0302020204030204" pitchFamily="34" charset="0"/>
              </a:rPr>
              <a:t>Next, I joined population data to the Toronto Data.</a:t>
            </a:r>
          </a:p>
          <a:p>
            <a:endParaRPr lang="en-CA" sz="1200" dirty="0">
              <a:latin typeface="Calibri Light" panose="020F0302020204030204" pitchFamily="34" charset="0"/>
              <a:cs typeface="Calibri Light" panose="020F0302020204030204" pitchFamily="34" charset="0"/>
            </a:endParaRPr>
          </a:p>
          <a:p>
            <a:r>
              <a:rPr lang="en-CA" sz="1200" b="1" i="1" dirty="0">
                <a:latin typeface="Calibri Light" panose="020F0302020204030204" pitchFamily="34" charset="0"/>
                <a:cs typeface="Calibri Light" panose="020F0302020204030204" pitchFamily="34" charset="0"/>
              </a:rPr>
              <a:t>1.3 Toronto neighborhoods average after tax income broken down by postal code</a:t>
            </a:r>
          </a:p>
          <a:p>
            <a:r>
              <a:rPr lang="en-CA" sz="1200" dirty="0">
                <a:latin typeface="Calibri Light" panose="020F0302020204030204" pitchFamily="34" charset="0"/>
                <a:cs typeface="Calibri Light" panose="020F0302020204030204" pitchFamily="34" charset="0"/>
              </a:rPr>
              <a:t>Here we must manually download these from Stats Canada and load them.</a:t>
            </a:r>
            <a:br>
              <a:rPr lang="en-CA" sz="1200" dirty="0">
                <a:latin typeface="Calibri Light" panose="020F0302020204030204" pitchFamily="34" charset="0"/>
                <a:cs typeface="Calibri Light" panose="020F0302020204030204" pitchFamily="34" charset="0"/>
              </a:rPr>
            </a:br>
            <a:r>
              <a:rPr lang="en-CA" sz="1200" u="sng" dirty="0">
                <a:latin typeface="Calibri Light" panose="020F0302020204030204" pitchFamily="34" charset="0"/>
                <a:cs typeface="Calibri Light" panose="020F0302020204030204" pitchFamily="34" charset="0"/>
                <a:hlinkClick r:id="rId6"/>
              </a:rPr>
              <a:t>https://www12.statcan.gc.ca/census-recensement/2016/dp-pd/prof/search-recherche/change-geo.cfm?Lang=E&amp;Geo1=FSA</a:t>
            </a:r>
            <a:br>
              <a:rPr lang="en-CA" sz="1200" dirty="0">
                <a:latin typeface="Calibri Light" panose="020F0302020204030204" pitchFamily="34" charset="0"/>
                <a:cs typeface="Calibri Light" panose="020F0302020204030204" pitchFamily="34" charset="0"/>
              </a:rPr>
            </a:br>
            <a:endParaRPr lang="en-CA" sz="1200" dirty="0">
              <a:latin typeface="Calibri Light" panose="020F0302020204030204" pitchFamily="34" charset="0"/>
              <a:cs typeface="Calibri Light" panose="020F0302020204030204" pitchFamily="34" charset="0"/>
            </a:endParaRPr>
          </a:p>
          <a:p>
            <a:r>
              <a:rPr lang="en-CA" sz="1200" b="1" i="1" dirty="0">
                <a:latin typeface="Calibri Light" panose="020F0302020204030204" pitchFamily="34" charset="0"/>
                <a:cs typeface="Calibri Light" panose="020F0302020204030204" pitchFamily="34" charset="0"/>
              </a:rPr>
              <a:t>1.3.1 Merge Toronto Neighbourhood income data with Toronto Postal Code data</a:t>
            </a:r>
          </a:p>
          <a:p>
            <a:r>
              <a:rPr lang="en-CA" sz="1200" dirty="0">
                <a:latin typeface="Calibri Light" panose="020F0302020204030204" pitchFamily="34" charset="0"/>
                <a:cs typeface="Calibri Light" panose="020F0302020204030204" pitchFamily="34" charset="0"/>
              </a:rPr>
              <a:t>Next, I joined income data to the Toronto Data.</a:t>
            </a:r>
            <a:br>
              <a:rPr lang="en-CA" sz="1200" dirty="0">
                <a:latin typeface="Calibri Light" panose="020F0302020204030204" pitchFamily="34" charset="0"/>
                <a:cs typeface="Calibri Light" panose="020F0302020204030204" pitchFamily="34" charset="0"/>
              </a:rPr>
            </a:br>
            <a:r>
              <a:rPr lang="en-CA" sz="1200" dirty="0">
                <a:latin typeface="Calibri Light" panose="020F0302020204030204" pitchFamily="34" charset="0"/>
                <a:cs typeface="Calibri Light" panose="020F0302020204030204" pitchFamily="34" charset="0"/>
              </a:rPr>
              <a:t>At this time I also saved a copy of the data set as my friend had asked for it in his list of requirements.</a:t>
            </a:r>
            <a:br>
              <a:rPr lang="en-CA" sz="1200" dirty="0">
                <a:latin typeface="Calibri Light" panose="020F0302020204030204" pitchFamily="34" charset="0"/>
                <a:cs typeface="Calibri Light" panose="020F0302020204030204" pitchFamily="34" charset="0"/>
              </a:rPr>
            </a:br>
            <a:endParaRPr lang="en-CA" sz="12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018074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C9C8E6-AA1C-4C98-9785-3E39D6665E99}"/>
              </a:ext>
            </a:extLst>
          </p:cNvPr>
          <p:cNvSpPr txBox="1"/>
          <p:nvPr/>
        </p:nvSpPr>
        <p:spPr>
          <a:xfrm>
            <a:off x="1152939" y="490330"/>
            <a:ext cx="9965635" cy="3600986"/>
          </a:xfrm>
          <a:prstGeom prst="rect">
            <a:avLst/>
          </a:prstGeom>
          <a:noFill/>
        </p:spPr>
        <p:txBody>
          <a:bodyPr wrap="square" rtlCol="0">
            <a:spAutoFit/>
          </a:bodyPr>
          <a:lstStyle/>
          <a:p>
            <a:r>
              <a:rPr lang="en-CA" b="1" dirty="0"/>
              <a:t>Methodology:</a:t>
            </a:r>
          </a:p>
          <a:p>
            <a:r>
              <a:rPr lang="en-CA" b="1" dirty="0"/>
              <a:t>Choice of Algorithms </a:t>
            </a:r>
            <a:br>
              <a:rPr lang="en-CA" b="1" dirty="0"/>
            </a:br>
            <a:endParaRPr lang="en-CA" b="1" dirty="0"/>
          </a:p>
          <a:p>
            <a:r>
              <a:rPr lang="en-CA" dirty="0"/>
              <a:t>I chose K-Means Clustering. </a:t>
            </a:r>
            <a:br>
              <a:rPr lang="en-CA" dirty="0"/>
            </a:br>
            <a:r>
              <a:rPr lang="en-CA" u="sng" dirty="0">
                <a:hlinkClick r:id="rId2"/>
              </a:rPr>
              <a:t>https://towardsdatascience.com/clustering-algorithms-for-customer-segmentation-af637c6830ac</a:t>
            </a:r>
            <a:r>
              <a:rPr lang="en-CA" dirty="0"/>
              <a:t> </a:t>
            </a:r>
          </a:p>
          <a:p>
            <a:r>
              <a:rPr lang="en-CA" dirty="0"/>
              <a:t>A backgrounder on K-Means clustering </a:t>
            </a:r>
            <a:br>
              <a:rPr lang="en-CA" dirty="0"/>
            </a:br>
            <a:r>
              <a:rPr lang="en-CA" dirty="0"/>
              <a:t>“K-means clustering is an iterative clustering algorithm where the number of clusters K is predetermined and the algorithm iteratively assigns each data </a:t>
            </a:r>
            <a:br>
              <a:rPr lang="en-CA" dirty="0"/>
            </a:br>
            <a:r>
              <a:rPr lang="en-CA" dirty="0"/>
              <a:t>point to one of the K clusters based on the feature similarity.” </a:t>
            </a:r>
          </a:p>
          <a:p>
            <a:r>
              <a:rPr lang="en-CA" b="1" dirty="0"/>
              <a:t>* Key Observation: And for my project feature similarity means restaurant similarity in Neighborhoods *</a:t>
            </a:r>
            <a:r>
              <a:rPr lang="en-CA" dirty="0"/>
              <a:t> </a:t>
            </a:r>
          </a:p>
          <a:p>
            <a:pPr lvl="0"/>
            <a:endParaRPr lang="en-CA" sz="12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949171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C9C8E6-AA1C-4C98-9785-3E39D6665E99}"/>
              </a:ext>
            </a:extLst>
          </p:cNvPr>
          <p:cNvSpPr txBox="1"/>
          <p:nvPr/>
        </p:nvSpPr>
        <p:spPr>
          <a:xfrm>
            <a:off x="1113182" y="503582"/>
            <a:ext cx="9965635" cy="1107996"/>
          </a:xfrm>
          <a:prstGeom prst="rect">
            <a:avLst/>
          </a:prstGeom>
          <a:noFill/>
        </p:spPr>
        <p:txBody>
          <a:bodyPr wrap="square" rtlCol="0">
            <a:spAutoFit/>
          </a:bodyPr>
          <a:lstStyle/>
          <a:p>
            <a:r>
              <a:rPr lang="en-US" b="1" dirty="0"/>
              <a:t>Results:</a:t>
            </a:r>
          </a:p>
          <a:p>
            <a:r>
              <a:rPr lang="en-US" b="1" dirty="0"/>
              <a:t>4.1 Plot the clusters on a Map of the Toronto and Super Impose the best location of a Store</a:t>
            </a:r>
          </a:p>
          <a:p>
            <a:pPr lvl="0"/>
            <a:endParaRPr lang="en-CA" sz="1200" dirty="0">
              <a:latin typeface="Calibri Light" panose="020F0302020204030204" pitchFamily="34" charset="0"/>
              <a:cs typeface="Calibri Light" panose="020F0302020204030204" pitchFamily="34" charset="0"/>
            </a:endParaRPr>
          </a:p>
        </p:txBody>
      </p:sp>
      <p:pic>
        <p:nvPicPr>
          <p:cNvPr id="3" name="Picture 2" descr="A close up of a map&#10;&#10;Description generated with high confidence">
            <a:extLst>
              <a:ext uri="{FF2B5EF4-FFF2-40B4-BE49-F238E27FC236}">
                <a16:creationId xmlns:a16="http://schemas.microsoft.com/office/drawing/2014/main" id="{7FCA0E32-0D06-47C8-BDC4-C85FFEE00A1C}"/>
              </a:ext>
            </a:extLst>
          </p:cNvPr>
          <p:cNvPicPr>
            <a:picLocks noChangeAspect="1"/>
          </p:cNvPicPr>
          <p:nvPr/>
        </p:nvPicPr>
        <p:blipFill>
          <a:blip r:embed="rId2"/>
          <a:stretch>
            <a:fillRect/>
          </a:stretch>
        </p:blipFill>
        <p:spPr>
          <a:xfrm>
            <a:off x="920005" y="1509156"/>
            <a:ext cx="10351987" cy="4965103"/>
          </a:xfrm>
          <a:prstGeom prst="rect">
            <a:avLst/>
          </a:prstGeom>
        </p:spPr>
      </p:pic>
    </p:spTree>
    <p:extLst>
      <p:ext uri="{BB962C8B-B14F-4D97-AF65-F5344CB8AC3E}">
        <p14:creationId xmlns:p14="http://schemas.microsoft.com/office/powerpoint/2010/main" val="3689072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C9C8E6-AA1C-4C98-9785-3E39D6665E99}"/>
              </a:ext>
            </a:extLst>
          </p:cNvPr>
          <p:cNvSpPr txBox="1"/>
          <p:nvPr/>
        </p:nvSpPr>
        <p:spPr>
          <a:xfrm>
            <a:off x="1113182" y="503582"/>
            <a:ext cx="9965635" cy="5816977"/>
          </a:xfrm>
          <a:prstGeom prst="rect">
            <a:avLst/>
          </a:prstGeom>
          <a:noFill/>
        </p:spPr>
        <p:txBody>
          <a:bodyPr wrap="square" rtlCol="0">
            <a:spAutoFit/>
          </a:bodyPr>
          <a:lstStyle/>
          <a:p>
            <a:r>
              <a:rPr lang="en-CA" b="1" dirty="0"/>
              <a:t>Discussion:</a:t>
            </a:r>
          </a:p>
          <a:p>
            <a:r>
              <a:rPr lang="en-CA" b="1" dirty="0"/>
              <a:t>5.1 Explaining the results</a:t>
            </a:r>
          </a:p>
          <a:p>
            <a:r>
              <a:rPr lang="en-CA" dirty="0"/>
              <a:t>As we built our list of neighborhoods with Restaurant venues exclusively we discovered most neighborhoods were similar and the greatest concentration of restaurants was in Central Toronto and downtown Toronto. This might seem obvious but it would also appear that these are some of the most affluent neighborhoods in Toronto so there appears to be correlation. By Locating in the general vicinity of the Exact location my friend could be geographically centered in this cluster and poised to service his restaurant customer base with greatest efficiency.</a:t>
            </a:r>
          </a:p>
          <a:p>
            <a:r>
              <a:rPr lang="en-CA" dirty="0"/>
              <a:t>When we built our </a:t>
            </a:r>
            <a:r>
              <a:rPr lang="en-CA" dirty="0" err="1"/>
              <a:t>our</a:t>
            </a:r>
            <a:r>
              <a:rPr lang="en-CA" dirty="0"/>
              <a:t> K-Means dataset we used Silhouette analysis to tell us there was a lot of similarity between neighborhoods and the most common restaurants contained with in. Really there was only 2 types of cluster or neighborhoods in greater Toronto. The vast majority of those were in 1 cluster. So Toronto restaurants might be many but they are very homogeneously located near the center of Toronto.</a:t>
            </a:r>
          </a:p>
          <a:p>
            <a:r>
              <a:rPr lang="en-CA" dirty="0"/>
              <a:t>Of the 103 Toronto Neighborhoods gathered only 55.3% or 57 Neighborhoods are above the median after-tax income. 37.8% or 39 Neighborhoods are below he median after-tax income. 6.7% or 7 neighborhoods did not register as it appears their populations are too low. It appears that the greatest concentration of affluence is near central Toronto. We decided to keep all neighborhoods in the dataset regardless of income of population as the majority were close enough.</a:t>
            </a:r>
          </a:p>
          <a:p>
            <a:pPr lvl="0"/>
            <a:endParaRPr lang="en-CA" sz="12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331908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C9C8E6-AA1C-4C98-9785-3E39D6665E99}"/>
              </a:ext>
            </a:extLst>
          </p:cNvPr>
          <p:cNvSpPr txBox="1"/>
          <p:nvPr/>
        </p:nvSpPr>
        <p:spPr>
          <a:xfrm>
            <a:off x="1113182" y="503582"/>
            <a:ext cx="9965635" cy="2215991"/>
          </a:xfrm>
          <a:prstGeom prst="rect">
            <a:avLst/>
          </a:prstGeom>
          <a:noFill/>
        </p:spPr>
        <p:txBody>
          <a:bodyPr wrap="square" rtlCol="0">
            <a:spAutoFit/>
          </a:bodyPr>
          <a:lstStyle/>
          <a:p>
            <a:r>
              <a:rPr lang="en-CA" b="1" dirty="0"/>
              <a:t>Conclusion:</a:t>
            </a:r>
          </a:p>
          <a:p>
            <a:r>
              <a:rPr lang="en-CA" dirty="0"/>
              <a:t>I feel confident with the recommendation I have given my friend as it is backed up with demonstrated data analysis. While nothing can ever be 100% certain he will certainly be better informed than he was prior to asking for my help.</a:t>
            </a:r>
          </a:p>
          <a:p>
            <a:r>
              <a:rPr lang="en-CA" dirty="0"/>
              <a:t>Much more inference can be obtained with more work. A potential side business for my friend might be assisting new restaurant owners where they might locate a new restaurant, who their competition is and who their clientele might be.</a:t>
            </a:r>
          </a:p>
          <a:p>
            <a:pPr lvl="0"/>
            <a:endParaRPr lang="en-CA" sz="12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63885870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56</TotalTime>
  <Words>863</Words>
  <Application>Microsoft Macintosh PowerPoint</Application>
  <PresentationFormat>Widescreen</PresentationFormat>
  <Paragraphs>42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Calibri Light</vt:lpstr>
      <vt:lpstr>Century Gothic</vt:lpstr>
      <vt:lpstr>Wingdings 3</vt:lpstr>
      <vt:lpstr>Slice</vt:lpstr>
      <vt:lpstr>Capstone: Find the best neighborhood in Toronto to open a Restaurant Supply Store </vt:lpstr>
      <vt:lpstr>Introduction: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Find the best neighborhood in Toronto to open a Restaurant Supply Store</dc:title>
  <dc:creator>DAVID Crouch</dc:creator>
  <cp:lastModifiedBy>Phuoc Trung Nguyen</cp:lastModifiedBy>
  <cp:revision>11</cp:revision>
  <dcterms:created xsi:type="dcterms:W3CDTF">2019-01-19T16:30:22Z</dcterms:created>
  <dcterms:modified xsi:type="dcterms:W3CDTF">2021-03-24T03:54:38Z</dcterms:modified>
</cp:coreProperties>
</file>